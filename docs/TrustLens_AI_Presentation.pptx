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members of the evaluation committee. Today, we present 'TrustLens AI', an intelligent, web-based file trust and threat analysis system. Our project bridges the gap between machine learning classification and explainable cybersecurity. We use static PE header telemetry to determine binary safety before execution, providing an interactive, transparent decision-support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antivirus tools rely on signature matching. When malware developers change even one byte, the file hash changes, bypassing signature lookups. Dynamic sandboxes run files to observe behaviors, but they are slow and modern malware simply sleeps when it detects VM drivers. TrustLens AI addresses this by statically parsing header telemetry to identify structural patterns of legitimacy without ever running the file.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problem definition is threefold: First, signature databases cannot detect zero-day or customized threats. Second, security tools run as black boxes, preventing users from understanding the risks. Third, files compiled without basic memory protections like ASLR and DEP remain executable, leaving systems vulnerable to memory exploits. We aim to build a system that detects zero-day anomalies and outputs explainable alerts.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these problems, we set four primary goals: Extract 54 PE features; achieve high-accuracy threat classification; create an Explainable AI heuristic engine to translate features into readable alerts; and map these alerts to the MITRE ATT&amp;CK framework to help security teams identify potential attacker tactics.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our system architecture. A user uploads a Windows binary, which is checked for formatting. The preprocessing module extracts 54 header features. The inference module scales these features and passes them to our trained classifier. Simultaneously, the rule engine checks safety thresholds. Both outputs are merged to display a Trust Score, risk cards, and a MITRE ATT&amp;CK matrix.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extraction is performed using the 'pefile' library. We parse 54 static attributes spanning COFF headers, optional headers, sections, imports, and resource directories. To ensure data integrity, our pipeline drops duplicate records based on MD5 hashes, and deletes contradictory rows where the same hash is labeled as both malware and legitimate.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perform feature engineering on section entropy and imports. Section entropy measures byte randomness. A high maximum entropy indicates packed or encrypted sections, which are common signature evasion techniques. Similarly, an import count below 10 indicates that a binary resolves its APIs dynamically, likely to evade static signatures.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training pipeline processes Chiheb Chebbi's PE dataset, which has 138,047 samples. Features are standardized to prevent larger metrics from dominating weights. We split the data 70:30 using a stratified split. We train and compare three ensemble classifiers, then tune the best-performing model using 5-fold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model comparison, Random Forest achieved the highest baseline test accuracy at 99.48%, compared to AdaBoost's 98.66% and Gradient Boosting's 98.85%. Because Random Forest is robust to high-dimensional static data, we selected it for hyperparameter tuning to optimize our estimators and depth.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hyperparameter optimization, the final Random Forest model achieved a test accuracy of 99.49%. The True Positive Rate is 99.19% and the True Negative Rate is 99.61%. Critically, the False Positive Rate is kept low at 0.39%, minimizing the risk of malware executing undetected.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confusion matrix on our test partition of 41,415 samples: 28,906 malicious files were correctly blocked, and 12,296 legitimate files were allowed. The classifier had 112 false positives and 101 false negatives, showing balanced errors and stable classification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the 'black box' issue, we built a rule-based Explainable AI engine. If a feature crosses a security threshold—such as missing ASLR/DEP protections, section entropy over 7.2, or an abnormal virtual image size—the system generates a natural-language alert explaining the architectural risk.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TrustLens AI maps these anomalies directly to the official MITRE ATT&amp;CK database. For example, high section entropy is mapped to software packing (T1027.002), and low import count is mapped to obfuscated files (T1027). This helps security analysts identify the specific tactics and techniques associated with flagged binaries.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user interface is built as a multi-page Streamlit application. It features a landing page, a file scanner page with color-coded risk cards and telemetry tables, a model dashboard showing performance charts, and an interactive MITRE ATT&amp;CK mapping reference matrix.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our demo, we show a typical user workflow. The user logs in, uploads a PE file, and the scanner processes it in under 200 milliseconds. The interface displays the trust score, color-coded risk cards, and explainable alerts, which can then be matched with ATT&amp;CK techniques.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test suite contains 14 automated tests built in pytest. We use white-box testing for helper functions and black-box testing for functional outputs. Our integration tests verify the pipeline flow from extraction to scaling. If model assets are missing, the system falls back to a simulated heuristic mode to remain reliable.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insights from our project highlight the trade-off between False Positives and False Negatives. In malware detection, false positives—where malware is predicted as benign—are critical. Our low FPR (0.39%) minimizes this risk. We also proved that static headers contain enough data to identify threat patterns without execution.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maintain research integrity, we document three planned features that are pending implementation: a dynamic SHAP visualization engine to show feature contributions, ELF and Mach-O parser modules for cross-platform support, and an SQL database backend to log historical scans.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future work, we plan to integrate deep learning models alongside our ensemble classifiers. We also aim to implement automated routing to run high-risk binaries in a sandbox, and link our tool to threat intelligence feeds like VirusTotal to enrich the static telemetry.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TrustLens AI provides a secure, static threat classification platform. It achieves 99.49% accuracy and maps anomalies to the MITRE framework. We have listed three review questions focusing on model robustness, packed malware detection, and static analysis risks.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600" b="1">
                <a:solidFill>
                  <a:srgbClr val="1E3C72"/>
                </a:solidFill>
                <a:latin typeface="Arial"/>
              </a:defRPr>
            </a:pPr>
            <a:r>
              <a:t>TrustLens AI: Intelligent File Trust &amp; Threat Analysis System</a:t>
            </a:r>
          </a:p>
        </p:txBody>
      </p:sp>
      <p:sp>
        <p:nvSpPr>
          <p:cNvPr id="3" name="Subtitle 2"/>
          <p:cNvSpPr>
            <a:spLocks noGrp="1"/>
          </p:cNvSpPr>
          <p:nvPr>
            <p:ph type="subTitle" idx="1"/>
          </p:nvPr>
        </p:nvSpPr>
        <p:spPr/>
        <p:txBody>
          <a:bodyPr/>
          <a:lstStyle/>
          <a:p>
            <a:pPr>
              <a:defRPr sz="2000">
                <a:solidFill>
                  <a:srgbClr val="505050"/>
                </a:solidFill>
                <a:latin typeface="Arial"/>
              </a:defRPr>
            </a:pPr>
            <a:r>
              <a:t>Static Header-Based Threat Detection with Explainable AI (XAI)</a:t>
            </a:r>
          </a:p>
          <a:p>
            <a:r>
              <a:t>and MITRE ATT&amp;CK Mapping</a:t>
            </a:r>
          </a:p>
          <a:p/>
          <a:p>
            <a:r>
              <a:t>Academic Year: 2026-2027</a:t>
            </a:r>
          </a:p>
          <a:p>
            <a:r>
              <a:t>Dept. of Computer Science &amp; Engineering (Data Science)</a:t>
            </a:r>
          </a:p>
          <a:p>
            <a:r>
              <a:t>Annamacharya Institute of Technology and Sciences (Autonomous), Rajampet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Introduction &amp; Motivation</a:t>
            </a:r>
          </a:p>
        </p:txBody>
      </p:sp>
      <p:sp>
        <p:nvSpPr>
          <p:cNvPr id="3" name="Content Placeholder 2"/>
          <p:cNvSpPr>
            <a:spLocks noGrp="1"/>
          </p:cNvSpPr>
          <p:nvPr>
            <p:ph idx="1"/>
          </p:nvPr>
        </p:nvSpPr>
        <p:spPr/>
        <p:txBody>
          <a:bodyPr/>
          <a:lstStyle/>
          <a:p>
            <a:pPr>
              <a:defRPr sz="2200">
                <a:solidFill>
                  <a:srgbClr val="3C3C3C"/>
                </a:solidFill>
                <a:latin typeface="Arial"/>
              </a:defRPr>
            </a:pPr>
            <a:r>
              <a:t>The Threat Landscape: Exponential growth of file-based threat delivery via emails and cloud storage.</a:t>
            </a:r>
          </a:p>
          <a:p>
            <a:pPr>
              <a:defRPr sz="2200">
                <a:solidFill>
                  <a:srgbClr val="3C3C3C"/>
                </a:solidFill>
                <a:latin typeface="Arial"/>
              </a:defRPr>
            </a:pPr>
            <a:r>
              <a:t>Signature-Based AV Limitations: Incapable of detecting zero-day malware or custom-compiled payloads.</a:t>
            </a:r>
          </a:p>
          <a:p>
            <a:pPr>
              <a:defRPr sz="2200">
                <a:solidFill>
                  <a:srgbClr val="3C3C3C"/>
                </a:solidFill>
                <a:latin typeface="Arial"/>
              </a:defRPr>
            </a:pPr>
            <a:r>
              <a:t>Dynamic Sandboxing Drawbacks: Computationally expensive, slow, and bypassed by 'sandbox-aware' malware.</a:t>
            </a:r>
          </a:p>
          <a:p>
            <a:pPr>
              <a:defRPr sz="2200">
                <a:solidFill>
                  <a:srgbClr val="3C3C3C"/>
                </a:solidFill>
                <a:latin typeface="Arial"/>
              </a:defRPr>
            </a:pPr>
            <a:r>
              <a:t>Explainability Void: Traditional tools operate as opaque 'black boxes' without providing safety telemetry.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Problem Definition</a:t>
            </a:r>
          </a:p>
        </p:txBody>
      </p:sp>
      <p:sp>
        <p:nvSpPr>
          <p:cNvPr id="3" name="Content Placeholder 2"/>
          <p:cNvSpPr>
            <a:spLocks noGrp="1"/>
          </p:cNvSpPr>
          <p:nvPr>
            <p:ph idx="1"/>
          </p:nvPr>
        </p:nvSpPr>
        <p:spPr/>
        <p:txBody>
          <a:bodyPr/>
          <a:lstStyle/>
          <a:p>
            <a:pPr>
              <a:defRPr sz="2200">
                <a:solidFill>
                  <a:srgbClr val="3C3C3C"/>
                </a:solidFill>
                <a:latin typeface="Arial"/>
              </a:defRPr>
            </a:pPr>
            <a:r>
              <a:t>Zero-Day Threat Penetration: Absence of signature-independent endpoint defense protocols.</a:t>
            </a:r>
          </a:p>
          <a:p>
            <a:pPr>
              <a:defRPr sz="2200">
                <a:solidFill>
                  <a:srgbClr val="3C3C3C"/>
                </a:solidFill>
                <a:latin typeface="Arial"/>
              </a:defRPr>
            </a:pPr>
            <a:r>
              <a:t>Antivirus Opaque Alerts: Security alerts are binary (Block/Allow) with no explanations of structural anomalies.</a:t>
            </a:r>
          </a:p>
          <a:p>
            <a:pPr>
              <a:defRPr sz="2200">
                <a:solidFill>
                  <a:srgbClr val="3C3C3C"/>
                </a:solidFill>
                <a:latin typeface="Arial"/>
              </a:defRPr>
            </a:pPr>
            <a:r>
              <a:t>Exploitation Vulnerabilities: Files compiled without DEP or ASLR protections are easily exploited by ROP techniques.</a:t>
            </a:r>
          </a:p>
          <a:p>
            <a:pPr>
              <a:defRPr sz="2200">
                <a:solidFill>
                  <a:srgbClr val="3C3C3C"/>
                </a:solidFill>
                <a:latin typeface="Arial"/>
              </a:defRPr>
            </a:pPr>
            <a:r>
              <a:t>Malware Evasion Tactics: Attackers pack, compress, or encrypt code sections to defeat static scanners.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Project Objectives</a:t>
            </a:r>
          </a:p>
        </p:txBody>
      </p:sp>
      <p:sp>
        <p:nvSpPr>
          <p:cNvPr id="3" name="Content Placeholder 2"/>
          <p:cNvSpPr>
            <a:spLocks noGrp="1"/>
          </p:cNvSpPr>
          <p:nvPr>
            <p:ph idx="1"/>
          </p:nvPr>
        </p:nvSpPr>
        <p:spPr/>
        <p:txBody>
          <a:bodyPr/>
          <a:lstStyle/>
          <a:p>
            <a:pPr>
              <a:defRPr sz="2200">
                <a:solidFill>
                  <a:srgbClr val="3C3C3C"/>
                </a:solidFill>
                <a:latin typeface="Arial"/>
              </a:defRPr>
            </a:pPr>
            <a:r>
              <a:t>Extract Static Features: Parse raw headers of uploaded Windows PE binaries without execution.</a:t>
            </a:r>
          </a:p>
          <a:p>
            <a:pPr>
              <a:defRPr sz="2200">
                <a:solidFill>
                  <a:srgbClr val="3C3C3C"/>
                </a:solidFill>
                <a:latin typeface="Arial"/>
              </a:defRPr>
            </a:pPr>
            <a:r>
              <a:t>High-Accuracy Classification: Train ensemble models to categorize files with over 98% validation accuracy.</a:t>
            </a:r>
          </a:p>
          <a:p>
            <a:pPr>
              <a:defRPr sz="2200">
                <a:solidFill>
                  <a:srgbClr val="3C3C3C"/>
                </a:solidFill>
                <a:latin typeface="Arial"/>
              </a:defRPr>
            </a:pPr>
            <a:r>
              <a:t>Explainable AI (XAI) Engine: Output natural-language security alerts for structural discrepancies.</a:t>
            </a:r>
          </a:p>
          <a:p>
            <a:pPr>
              <a:defRPr sz="2200">
                <a:solidFill>
                  <a:srgbClr val="3C3C3C"/>
                </a:solidFill>
                <a:latin typeface="Arial"/>
              </a:defRPr>
            </a:pPr>
            <a:r>
              <a:t>ATT&amp;CK Framework Integration: Map header anomalies to official MITRE adversary techniques.</a:t>
            </a:r>
          </a:p>
          <a:p>
            <a:pPr>
              <a:defRPr sz="2200">
                <a:solidFill>
                  <a:srgbClr val="3C3C3C"/>
                </a:solidFill>
                <a:latin typeface="Arial"/>
              </a:defRPr>
            </a:pPr>
            <a:r>
              <a:t>Interactive Portal: Deploy a responsive Streamlit UI including a Scanner, Dashboard, and MITRE matrix.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System Architecture Flow</a:t>
            </a:r>
          </a:p>
        </p:txBody>
      </p:sp>
      <p:sp>
        <p:nvSpPr>
          <p:cNvPr id="3" name="Content Placeholder 2"/>
          <p:cNvSpPr>
            <a:spLocks noGrp="1"/>
          </p:cNvSpPr>
          <p:nvPr>
            <p:ph idx="1"/>
          </p:nvPr>
        </p:nvSpPr>
        <p:spPr/>
        <p:txBody>
          <a:bodyPr/>
          <a:lstStyle/>
          <a:p>
            <a:pPr>
              <a:defRPr sz="2200">
                <a:solidFill>
                  <a:srgbClr val="3C3C3C"/>
                </a:solidFill>
                <a:latin typeface="Arial"/>
              </a:defRPr>
            </a:pPr>
            <a:r>
              <a:t>Ingestion: User uploads binary (.exe, .dll, .sys) via drag-and-drop web UI.</a:t>
            </a:r>
          </a:p>
          <a:p>
            <a:pPr>
              <a:defRPr sz="2200">
                <a:solidFill>
                  <a:srgbClr val="3C3C3C"/>
                </a:solidFill>
                <a:latin typeface="Arial"/>
              </a:defRPr>
            </a:pPr>
            <a:r>
              <a:t>Feature Extractor (preprocess.py): Parsed using 'pefile' to extract 54 static attributes.</a:t>
            </a:r>
          </a:p>
          <a:p>
            <a:pPr>
              <a:defRPr sz="2200">
                <a:solidFill>
                  <a:srgbClr val="3C3C3C"/>
                </a:solidFill>
                <a:latin typeface="Arial"/>
              </a:defRPr>
            </a:pPr>
            <a:r>
              <a:t>Normalization: Normalizes varying ranges using StandardScaler.</a:t>
            </a:r>
          </a:p>
          <a:p>
            <a:pPr>
              <a:defRPr sz="2200">
                <a:solidFill>
                  <a:srgbClr val="3C3C3C"/>
                </a:solidFill>
                <a:latin typeface="Arial"/>
              </a:defRPr>
            </a:pPr>
            <a:r>
              <a:t>Inference Service (predict.py): Evaluates scaled features against optimized model assets.</a:t>
            </a:r>
          </a:p>
          <a:p>
            <a:pPr>
              <a:defRPr sz="2200">
                <a:solidFill>
                  <a:srgbClr val="3C3C3C"/>
                </a:solidFill>
                <a:latin typeface="Arial"/>
              </a:defRPr>
            </a:pPr>
            <a:r>
              <a:t>XAI Engine: Compares header features against rule thresholds.</a:t>
            </a:r>
          </a:p>
          <a:p>
            <a:pPr>
              <a:defRPr sz="2200">
                <a:solidFill>
                  <a:srgbClr val="3C3C3C"/>
                </a:solidFill>
                <a:latin typeface="Arial"/>
              </a:defRPr>
            </a:pPr>
            <a:r>
              <a:t>UI Display: Outputs Trust Score, Risk level cards, safety alerts, and MITRE matrix mapping.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Preprocessing &amp; Feature Extraction</a:t>
            </a:r>
          </a:p>
        </p:txBody>
      </p:sp>
      <p:sp>
        <p:nvSpPr>
          <p:cNvPr id="3" name="Content Placeholder 2"/>
          <p:cNvSpPr>
            <a:spLocks noGrp="1"/>
          </p:cNvSpPr>
          <p:nvPr>
            <p:ph idx="1"/>
          </p:nvPr>
        </p:nvSpPr>
        <p:spPr/>
        <p:txBody>
          <a:bodyPr/>
          <a:lstStyle/>
          <a:p>
            <a:pPr>
              <a:defRPr sz="2200">
                <a:solidFill>
                  <a:srgbClr val="3C3C3C"/>
                </a:solidFill>
                <a:latin typeface="Arial"/>
              </a:defRPr>
            </a:pPr>
            <a:r>
              <a:t>Tooling: Utilizes the static PE parsing library 'pefile' for rapid byte parsing (&lt;200ms).</a:t>
            </a:r>
          </a:p>
          <a:p>
            <a:pPr>
              <a:defRPr sz="2200">
                <a:solidFill>
                  <a:srgbClr val="3C3C3C"/>
                </a:solidFill>
                <a:latin typeface="Arial"/>
              </a:defRPr>
            </a:pPr>
            <a:r>
              <a:t>54 Header Features Grouping:</a:t>
            </a:r>
          </a:p>
          <a:p>
            <a:pPr lvl="1">
              <a:defRPr sz="1800">
                <a:solidFill>
                  <a:srgbClr val="3C3C3C"/>
                </a:solidFill>
                <a:latin typeface="Arial"/>
              </a:defRPr>
            </a:pPr>
            <a:r>
              <a:t>  - COFF File Header: Machine target architecture, Optional Header size, characteristics flags.</a:t>
            </a:r>
          </a:p>
          <a:p>
            <a:pPr lvl="1">
              <a:defRPr sz="1800">
                <a:solidFill>
                  <a:srgbClr val="3C3C3C"/>
                </a:solidFill>
                <a:latin typeface="Arial"/>
              </a:defRPr>
            </a:pPr>
            <a:r>
              <a:t>  - Optional Header: Linker version, sizes of code/data sections, image base, heap/stack reserves.</a:t>
            </a:r>
          </a:p>
          <a:p>
            <a:pPr lvl="1">
              <a:defRPr sz="1800">
                <a:solidFill>
                  <a:srgbClr val="3C3C3C"/>
                </a:solidFill>
                <a:latin typeface="Arial"/>
              </a:defRPr>
            </a:pPr>
            <a:r>
              <a:t>  - PE Sections Stats: Number of sections, minimum/mean/maximum entropy, virtual and raw sizes.</a:t>
            </a:r>
          </a:p>
          <a:p>
            <a:pPr lvl="1">
              <a:defRPr sz="1800">
                <a:solidFill>
                  <a:srgbClr val="3C3C3C"/>
                </a:solidFill>
                <a:latin typeface="Arial"/>
              </a:defRPr>
            </a:pPr>
            <a:r>
              <a:t>  - Imports &amp; Exports: Total import count, number of DLLs imported, ordinal imports, exports list.</a:t>
            </a:r>
          </a:p>
          <a:p>
            <a:pPr>
              <a:defRPr sz="2200">
                <a:solidFill>
                  <a:srgbClr val="3C3C3C"/>
                </a:solidFill>
                <a:latin typeface="Arial"/>
              </a:defRPr>
            </a:pPr>
            <a:r>
              <a:t>Data Cleaning: Drops duplicate MD5 records and removes contradictory label inputs.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Feature Engineering: Section Entropy &amp; Imports</a:t>
            </a:r>
          </a:p>
        </p:txBody>
      </p:sp>
      <p:sp>
        <p:nvSpPr>
          <p:cNvPr id="3" name="Content Placeholder 2"/>
          <p:cNvSpPr>
            <a:spLocks noGrp="1"/>
          </p:cNvSpPr>
          <p:nvPr>
            <p:ph idx="1"/>
          </p:nvPr>
        </p:nvSpPr>
        <p:spPr/>
        <p:txBody>
          <a:bodyPr/>
          <a:lstStyle/>
          <a:p>
            <a:pPr>
              <a:defRPr sz="2200">
                <a:solidFill>
                  <a:srgbClr val="3C3C3C"/>
                </a:solidFill>
                <a:latin typeface="Arial"/>
              </a:defRPr>
            </a:pPr>
            <a:r>
              <a:t>Shannon Entropy Formula:</a:t>
            </a:r>
          </a:p>
          <a:p>
            <a:pPr>
              <a:defRPr sz="2200">
                <a:solidFill>
                  <a:srgbClr val="3C3C3C"/>
                </a:solidFill>
                <a:latin typeface="Arial"/>
              </a:defRPr>
            </a:pPr>
            <a:r>
              <a:t>  H(X) = -sum( P(x_i) * log2 P(x_i) ) for byte frequencies.</a:t>
            </a:r>
          </a:p>
          <a:p>
            <a:pPr>
              <a:defRPr sz="2200">
                <a:solidFill>
                  <a:srgbClr val="3C3C3C"/>
                </a:solidFill>
                <a:latin typeface="Arial"/>
              </a:defRPr>
            </a:pPr>
            <a:r>
              <a:t>Entropy Interpretability:</a:t>
            </a:r>
          </a:p>
          <a:p>
            <a:pPr lvl="1">
              <a:defRPr sz="1800">
                <a:solidFill>
                  <a:srgbClr val="3C3C3C"/>
                </a:solidFill>
                <a:latin typeface="Arial"/>
              </a:defRPr>
            </a:pPr>
            <a:r>
              <a:t>  - Max Section Entropy &gt; 7.2 indicates packed, encrypted, or highly compressed payloads.</a:t>
            </a:r>
          </a:p>
          <a:p>
            <a:pPr lvl="1">
              <a:defRPr sz="1800">
                <a:solidFill>
                  <a:srgbClr val="3C3C3C"/>
                </a:solidFill>
                <a:latin typeface="Arial"/>
              </a:defRPr>
            </a:pPr>
            <a:r>
              <a:t>  - Legitimate code sections generally display lower entropy due to uncompressed code.</a:t>
            </a:r>
          </a:p>
          <a:p>
            <a:pPr>
              <a:defRPr sz="2200">
                <a:solidFill>
                  <a:srgbClr val="3C3C3C"/>
                </a:solidFill>
                <a:latin typeface="Arial"/>
              </a:defRPr>
            </a:pPr>
            <a:r>
              <a:t>Import Density Analysis:</a:t>
            </a:r>
          </a:p>
          <a:p>
            <a:pPr lvl="1">
              <a:defRPr sz="1800">
                <a:solidFill>
                  <a:srgbClr val="3C3C3C"/>
                </a:solidFill>
                <a:latin typeface="Arial"/>
              </a:defRPr>
            </a:pPr>
            <a:r>
              <a:t>  - Benign binaries import multiple DLLs for routine functions.</a:t>
            </a:r>
          </a:p>
          <a:p>
            <a:pPr lvl="1">
              <a:defRPr sz="1800">
                <a:solidFill>
                  <a:srgbClr val="3C3C3C"/>
                </a:solidFill>
                <a:latin typeface="Arial"/>
              </a:defRPr>
            </a:pPr>
            <a:r>
              <a:t>  - Low Import Count (&lt;10) indicates dynamic resolving (LoadLibrary/GetProcAddress) for evasion.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Machine Learning Training Pipeline</a:t>
            </a:r>
          </a:p>
        </p:txBody>
      </p:sp>
      <p:sp>
        <p:nvSpPr>
          <p:cNvPr id="3" name="Content Placeholder 2"/>
          <p:cNvSpPr>
            <a:spLocks noGrp="1"/>
          </p:cNvSpPr>
          <p:nvPr>
            <p:ph idx="1"/>
          </p:nvPr>
        </p:nvSpPr>
        <p:spPr/>
        <p:txBody>
          <a:bodyPr/>
          <a:lstStyle/>
          <a:p>
            <a:pPr>
              <a:defRPr sz="2200">
                <a:solidFill>
                  <a:srgbClr val="3C3C3C"/>
                </a:solidFill>
                <a:latin typeface="Arial"/>
              </a:defRPr>
            </a:pPr>
            <a:r>
              <a:t>Dataset Ingestion: Trains on Chiheb Chebbi's PE dataset (138,047 samples).</a:t>
            </a:r>
          </a:p>
          <a:p>
            <a:pPr>
              <a:defRPr sz="2200">
                <a:solidFill>
                  <a:srgbClr val="3C3C3C"/>
                </a:solidFill>
                <a:latin typeface="Arial"/>
              </a:defRPr>
            </a:pPr>
            <a:r>
              <a:t>Target Labels: 96,724 malicious (0) and 41,323 legitimate (1) PE records.</a:t>
            </a:r>
          </a:p>
          <a:p>
            <a:pPr>
              <a:defRPr sz="2200">
                <a:solidFill>
                  <a:srgbClr val="3C3C3C"/>
                </a:solidFill>
                <a:latin typeface="Arial"/>
              </a:defRPr>
            </a:pPr>
            <a:r>
              <a:t>Preprocessing: Cleans duplicate hashes, extracts feature matrix, and imputes missing columns.</a:t>
            </a:r>
          </a:p>
          <a:p>
            <a:pPr>
              <a:defRPr sz="2200">
                <a:solidFill>
                  <a:srgbClr val="3C3C3C"/>
                </a:solidFill>
                <a:latin typeface="Arial"/>
              </a:defRPr>
            </a:pPr>
            <a:r>
              <a:t>Scaling: Fits and transforms features using standard scaler normalization.</a:t>
            </a:r>
          </a:p>
          <a:p>
            <a:pPr>
              <a:defRPr sz="2200">
                <a:solidFill>
                  <a:srgbClr val="3C3C3C"/>
                </a:solidFill>
                <a:latin typeface="Arial"/>
              </a:defRPr>
            </a:pPr>
            <a:r>
              <a:t>Train/Test Partition: Stratified 70:30 split to maintain equal class densities.</a:t>
            </a:r>
          </a:p>
          <a:p>
            <a:pPr>
              <a:defRPr sz="2200">
                <a:solidFill>
                  <a:srgbClr val="3C3C3C"/>
                </a:solidFill>
                <a:latin typeface="Arial"/>
              </a:defRPr>
            </a:pPr>
            <a:r>
              <a:t>Estimator Tuning: 5-Fold Stratified RandomizedSearchCV on the best performer.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Model Comparison (70:30 Stratified Split)</a:t>
            </a:r>
          </a:p>
        </p:txBody>
      </p:sp>
      <p:sp>
        <p:nvSpPr>
          <p:cNvPr id="3" name="Content Placeholder 2"/>
          <p:cNvSpPr>
            <a:spLocks noGrp="1"/>
          </p:cNvSpPr>
          <p:nvPr>
            <p:ph idx="1"/>
          </p:nvPr>
        </p:nvSpPr>
        <p:spPr/>
        <p:txBody>
          <a:bodyPr/>
          <a:lstStyle/>
          <a:p>
            <a:pPr>
              <a:defRPr sz="2200">
                <a:solidFill>
                  <a:srgbClr val="3C3C3C"/>
                </a:solidFill>
                <a:latin typeface="Arial"/>
              </a:defRPr>
            </a:pPr>
            <a:r>
              <a:t>Ensemble Classifier Comparison Metrics:</a:t>
            </a:r>
          </a:p>
          <a:p>
            <a:pPr lvl="1">
              <a:defRPr sz="1800">
                <a:solidFill>
                  <a:srgbClr val="3C3C3C"/>
                </a:solidFill>
                <a:latin typeface="Arial"/>
              </a:defRPr>
            </a:pPr>
            <a:r>
              <a:t>  - Random Forest: Accuracy: 99.48% | Precision: 99.08% | Recall: 99.17% | F1-Score: 99.13%</a:t>
            </a:r>
          </a:p>
          <a:p>
            <a:pPr lvl="1">
              <a:defRPr sz="1800">
                <a:solidFill>
                  <a:srgbClr val="3C3C3C"/>
                </a:solidFill>
                <a:latin typeface="Arial"/>
              </a:defRPr>
            </a:pPr>
            <a:r>
              <a:t>  - Gradient Boosting: Accuracy: 98.85% | Precision: 98.45% | Recall: 97.69% | F1-Score: 98.07%</a:t>
            </a:r>
          </a:p>
          <a:p>
            <a:pPr lvl="1">
              <a:defRPr sz="1800">
                <a:solidFill>
                  <a:srgbClr val="3C3C3C"/>
                </a:solidFill>
                <a:latin typeface="Arial"/>
              </a:defRPr>
            </a:pPr>
            <a:r>
              <a:t>  - AdaBoost: Accuracy: 98.66% | Precision: 98.29% | Recall: 97.20% | F1-Score: 97.74%</a:t>
            </a:r>
          </a:p>
          <a:p>
            <a:pPr>
              <a:defRPr sz="2200">
                <a:solidFill>
                  <a:srgbClr val="3C3C3C"/>
                </a:solidFill>
                <a:latin typeface="Arial"/>
              </a:defRPr>
            </a:pPr>
            <a:r>
              <a:t>Model Selection: Random Forest selected for hyperparameter tuning.</a:t>
            </a:r>
          </a:p>
          <a:p>
            <a:pPr>
              <a:defRPr sz="2200">
                <a:solidFill>
                  <a:srgbClr val="3C3C3C"/>
                </a:solidFill>
                <a:latin typeface="Arial"/>
              </a:defRPr>
            </a:pPr>
            <a:r>
              <a:t>Optimization parameters: {'n_estimators': 150, 'min_samples_split': 2, 'min_samples_leaf':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Final Model Evaluation Metrics</a:t>
            </a:r>
          </a:p>
        </p:txBody>
      </p:sp>
      <p:sp>
        <p:nvSpPr>
          <p:cNvPr id="3" name="Content Placeholder 2"/>
          <p:cNvSpPr>
            <a:spLocks noGrp="1"/>
          </p:cNvSpPr>
          <p:nvPr>
            <p:ph idx="1"/>
          </p:nvPr>
        </p:nvSpPr>
        <p:spPr/>
        <p:txBody>
          <a:bodyPr/>
          <a:lstStyle/>
          <a:p>
            <a:pPr>
              <a:defRPr sz="2200">
                <a:solidFill>
                  <a:srgbClr val="3C3C3C"/>
                </a:solidFill>
                <a:latin typeface="Arial"/>
              </a:defRPr>
            </a:pPr>
            <a:r>
              <a:t>Optimized Classifier: Random Forest Classifier (150 trees, max depth: None).</a:t>
            </a:r>
          </a:p>
          <a:p>
            <a:pPr>
              <a:defRPr sz="2200">
                <a:solidFill>
                  <a:srgbClr val="3C3C3C"/>
                </a:solidFill>
                <a:latin typeface="Arial"/>
              </a:defRPr>
            </a:pPr>
            <a:r>
              <a:t>Performance Results:</a:t>
            </a:r>
          </a:p>
          <a:p>
            <a:pPr lvl="1">
              <a:defRPr sz="1800">
                <a:solidFill>
                  <a:srgbClr val="3C3C3C"/>
                </a:solidFill>
                <a:latin typeface="Arial"/>
              </a:defRPr>
            </a:pPr>
            <a:r>
              <a:t>  - Final Test Accuracy: 99.49%</a:t>
            </a:r>
          </a:p>
          <a:p>
            <a:pPr lvl="1">
              <a:defRPr sz="1800">
                <a:solidFill>
                  <a:srgbClr val="3C3C3C"/>
                </a:solidFill>
                <a:latin typeface="Arial"/>
              </a:defRPr>
            </a:pPr>
            <a:r>
              <a:t>  - True Positive Rate (TPR / Sensitivity): 99.19%</a:t>
            </a:r>
          </a:p>
          <a:p>
            <a:pPr lvl="1">
              <a:defRPr sz="1800">
                <a:solidFill>
                  <a:srgbClr val="3C3C3C"/>
                </a:solidFill>
                <a:latin typeface="Arial"/>
              </a:defRPr>
            </a:pPr>
            <a:r>
              <a:t>  - True Negative Rate (TNR / Specificity): 99.61%</a:t>
            </a:r>
          </a:p>
          <a:p>
            <a:pPr lvl="1">
              <a:defRPr sz="1800">
                <a:solidFill>
                  <a:srgbClr val="3C3C3C"/>
                </a:solidFill>
                <a:latin typeface="Arial"/>
              </a:defRPr>
            </a:pPr>
            <a:r>
              <a:t>  - False Positive Rate (FPR / Evasion Risk): 0.39%</a:t>
            </a:r>
          </a:p>
          <a:p>
            <a:pPr lvl="1">
              <a:defRPr sz="1800">
                <a:solidFill>
                  <a:srgbClr val="3C3C3C"/>
                </a:solidFill>
                <a:latin typeface="Arial"/>
              </a:defRPr>
            </a:pPr>
            <a:r>
              <a:t>  - False Negative Rate (FNR / False Alarm): 0.82%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Confusion Matrix Analysis</a:t>
            </a:r>
          </a:p>
        </p:txBody>
      </p:sp>
      <p:sp>
        <p:nvSpPr>
          <p:cNvPr id="3" name="Content Placeholder 2"/>
          <p:cNvSpPr>
            <a:spLocks noGrp="1"/>
          </p:cNvSpPr>
          <p:nvPr>
            <p:ph idx="1"/>
          </p:nvPr>
        </p:nvSpPr>
        <p:spPr/>
        <p:txBody>
          <a:bodyPr/>
          <a:lstStyle/>
          <a:p>
            <a:pPr>
              <a:defRPr sz="2200">
                <a:solidFill>
                  <a:srgbClr val="3C3C3C"/>
                </a:solidFill>
                <a:latin typeface="Arial"/>
              </a:defRPr>
            </a:pPr>
            <a:r>
              <a:t>Evaluation Partition Size: 41,415 test samples (balanced stratification).</a:t>
            </a:r>
          </a:p>
          <a:p>
            <a:pPr>
              <a:defRPr sz="2200">
                <a:solidFill>
                  <a:srgbClr val="3C3C3C"/>
                </a:solidFill>
                <a:latin typeface="Arial"/>
              </a:defRPr>
            </a:pPr>
            <a:r>
              <a:t>Confusion Matrix Break-Down:</a:t>
            </a:r>
          </a:p>
          <a:p>
            <a:pPr lvl="1">
              <a:defRPr sz="1800">
                <a:solidFill>
                  <a:srgbClr val="3C3C3C"/>
                </a:solidFill>
                <a:latin typeface="Arial"/>
              </a:defRPr>
            </a:pPr>
            <a:r>
              <a:t>  - True Negative (TN): 28,906 (Malicious correctly classified as Malware)</a:t>
            </a:r>
          </a:p>
          <a:p>
            <a:pPr lvl="1">
              <a:defRPr sz="1800">
                <a:solidFill>
                  <a:srgbClr val="3C3C3C"/>
                </a:solidFill>
                <a:latin typeface="Arial"/>
              </a:defRPr>
            </a:pPr>
            <a:r>
              <a:t>  - True Positive (TP): 12,296 (Legitimate correctly classified as Benign)</a:t>
            </a:r>
          </a:p>
          <a:p>
            <a:pPr lvl="1">
              <a:defRPr sz="1800">
                <a:solidFill>
                  <a:srgbClr val="3C3C3C"/>
                </a:solidFill>
                <a:latin typeface="Arial"/>
              </a:defRPr>
            </a:pPr>
            <a:r>
              <a:t>  - False Positive (FP): 112 (Malicious misclassified as Legitimate - Evasion Risk)</a:t>
            </a:r>
          </a:p>
          <a:p>
            <a:pPr lvl="1">
              <a:defRPr sz="1800">
                <a:solidFill>
                  <a:srgbClr val="3C3C3C"/>
                </a:solidFill>
                <a:latin typeface="Arial"/>
              </a:defRPr>
            </a:pPr>
            <a:r>
              <a:t>  - False Negative (FN): 101 (Legitimate misclassified as Malicious - False Alarm)</a:t>
            </a:r>
          </a:p>
          <a:p>
            <a:pPr>
              <a:defRPr sz="2200">
                <a:solidFill>
                  <a:srgbClr val="3C3C3C"/>
                </a:solidFill>
                <a:latin typeface="Arial"/>
              </a:defRPr>
            </a:pPr>
            <a:r>
              <a:t>Conclusion: Lower False Positive Rate (0.39%) ensures minimal security bypasses.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Explainable AI (XAI) Engine</a:t>
            </a:r>
          </a:p>
        </p:txBody>
      </p:sp>
      <p:sp>
        <p:nvSpPr>
          <p:cNvPr id="3" name="Content Placeholder 2"/>
          <p:cNvSpPr>
            <a:spLocks noGrp="1"/>
          </p:cNvSpPr>
          <p:nvPr>
            <p:ph idx="1"/>
          </p:nvPr>
        </p:nvSpPr>
        <p:spPr/>
        <p:txBody>
          <a:bodyPr/>
          <a:lstStyle/>
          <a:p>
            <a:pPr>
              <a:defRPr sz="2200">
                <a:solidFill>
                  <a:srgbClr val="3C3C3C"/>
                </a:solidFill>
                <a:latin typeface="Arial"/>
              </a:defRPr>
            </a:pPr>
            <a:r>
              <a:t>Translating Features: Combines machine learning predictions with rule-based heuristics.</a:t>
            </a:r>
          </a:p>
          <a:p>
            <a:pPr>
              <a:defRPr sz="2200">
                <a:solidFill>
                  <a:srgbClr val="3C3C3C"/>
                </a:solidFill>
                <a:latin typeface="Arial"/>
              </a:defRPr>
            </a:pPr>
            <a:r>
              <a:t>Section Entropy Check: Flags maximum entropy values &gt; 7.2 to alert users of packing/encryption.</a:t>
            </a:r>
          </a:p>
          <a:p>
            <a:pPr>
              <a:defRPr sz="2200">
                <a:solidFill>
                  <a:srgbClr val="3C3C3C"/>
                </a:solidFill>
                <a:latin typeface="Arial"/>
              </a:defRPr>
            </a:pPr>
            <a:r>
              <a:t>Security Mitigations Check: Inspects DllCharacteristics to verify DEP and ASLR flags.</a:t>
            </a:r>
          </a:p>
          <a:p>
            <a:pPr>
              <a:defRPr sz="2200">
                <a:solidFill>
                  <a:srgbClr val="3C3C3C"/>
                </a:solidFill>
                <a:latin typeface="Arial"/>
              </a:defRPr>
            </a:pPr>
            <a:r>
              <a:t>Checksum Verification: Identifies if the PE header checksum is 0.</a:t>
            </a:r>
          </a:p>
          <a:p>
            <a:pPr>
              <a:defRPr sz="2200">
                <a:solidFill>
                  <a:srgbClr val="3C3C3C"/>
                </a:solidFill>
                <a:latin typeface="Arial"/>
              </a:defRPr>
            </a:pPr>
            <a:r>
              <a:t>Import Density Check: Flags import counts &lt; 10 as potential evasion indicators.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MITRE ATT&amp;CK Framework Mapping</a:t>
            </a:r>
          </a:p>
        </p:txBody>
      </p:sp>
      <p:sp>
        <p:nvSpPr>
          <p:cNvPr id="3" name="Content Placeholder 2"/>
          <p:cNvSpPr>
            <a:spLocks noGrp="1"/>
          </p:cNvSpPr>
          <p:nvPr>
            <p:ph idx="1"/>
          </p:nvPr>
        </p:nvSpPr>
        <p:spPr/>
        <p:txBody>
          <a:bodyPr/>
          <a:lstStyle/>
          <a:p>
            <a:pPr>
              <a:defRPr sz="2200">
                <a:solidFill>
                  <a:srgbClr val="3C3C3C"/>
                </a:solidFill>
                <a:latin typeface="Arial"/>
              </a:defRPr>
            </a:pPr>
            <a:r>
              <a:t>Standardizing Anomalies: Maps structural header anomalies to official MITRE tactics &amp; techniques:</a:t>
            </a:r>
          </a:p>
          <a:p>
            <a:pPr lvl="1">
              <a:defRPr sz="1800">
                <a:solidFill>
                  <a:srgbClr val="3C3C3C"/>
                </a:solidFill>
                <a:latin typeface="Arial"/>
              </a:defRPr>
            </a:pPr>
            <a:r>
              <a:t>  - High Section Entropy -&gt; Obfuscated Files: Software Packing (T1027.002)</a:t>
            </a:r>
          </a:p>
          <a:p>
            <a:pPr lvl="1">
              <a:defRPr sz="1800">
                <a:solidFill>
                  <a:srgbClr val="3C3C3C"/>
                </a:solidFill>
                <a:latin typeface="Arial"/>
              </a:defRPr>
            </a:pPr>
            <a:r>
              <a:t>  - Low Import Count -&gt; Obfuscated Files or Information (T1027)</a:t>
            </a:r>
          </a:p>
          <a:p>
            <a:pPr lvl="1">
              <a:defRPr sz="1800">
                <a:solidFill>
                  <a:srgbClr val="3C3C3C"/>
                </a:solidFill>
                <a:latin typeface="Arial"/>
              </a:defRPr>
            </a:pPr>
            <a:r>
              <a:t>  - Missing ASLR / DEP -&gt; Exploitation for Privilege Escalation (T1068)</a:t>
            </a:r>
          </a:p>
          <a:p>
            <a:pPr lvl="1">
              <a:defRPr sz="1800">
                <a:solidFill>
                  <a:srgbClr val="3C3C3C"/>
                </a:solidFill>
                <a:latin typeface="Arial"/>
              </a:defRPr>
            </a:pPr>
            <a:r>
              <a:t>  - Zero Checksum -&gt; Subvert Trust Controls (T1553)</a:t>
            </a:r>
          </a:p>
          <a:p>
            <a:pPr lvl="1">
              <a:defRPr sz="1800">
                <a:solidFill>
                  <a:srgbClr val="3C3C3C"/>
                </a:solidFill>
                <a:latin typeface="Arial"/>
              </a:defRPr>
            </a:pPr>
            <a:r>
              <a:t>  - Virtual Size Discrepancy -&gt; Process Injection (T1055)</a:t>
            </a:r>
          </a:p>
          <a:p>
            <a:pPr lvl="1">
              <a:defRPr sz="1800">
                <a:solidFill>
                  <a:srgbClr val="3C3C3C"/>
                </a:solidFill>
                <a:latin typeface="Arial"/>
              </a:defRPr>
            </a:pPr>
            <a:r>
              <a:t>  - Spoofed Extension -&gt; Masquerading: Double Extension (T1036.003)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Presentation Layer: Web Interface</a:t>
            </a:r>
          </a:p>
        </p:txBody>
      </p:sp>
      <p:sp>
        <p:nvSpPr>
          <p:cNvPr id="3" name="Content Placeholder 2"/>
          <p:cNvSpPr>
            <a:spLocks noGrp="1"/>
          </p:cNvSpPr>
          <p:nvPr>
            <p:ph idx="1"/>
          </p:nvPr>
        </p:nvSpPr>
        <p:spPr/>
        <p:txBody>
          <a:bodyPr/>
          <a:lstStyle/>
          <a:p>
            <a:pPr>
              <a:defRPr sz="2200">
                <a:solidFill>
                  <a:srgbClr val="3C3C3C"/>
                </a:solidFill>
                <a:latin typeface="Arial"/>
              </a:defRPr>
            </a:pPr>
            <a:r>
              <a:t>Framework: Single-threaded responsive Streamlit application running on Python 3.14.</a:t>
            </a:r>
          </a:p>
          <a:p>
            <a:pPr>
              <a:defRPr sz="2200">
                <a:solidFill>
                  <a:srgbClr val="3C3C3C"/>
                </a:solidFill>
                <a:latin typeface="Arial"/>
              </a:defRPr>
            </a:pPr>
            <a:r>
              <a:t>Page Implementations:</a:t>
            </a:r>
          </a:p>
          <a:p>
            <a:pPr lvl="1">
              <a:defRPr sz="1800">
                <a:solidFill>
                  <a:srgbClr val="3C3C3C"/>
                </a:solidFill>
                <a:latin typeface="Arial"/>
              </a:defRPr>
            </a:pPr>
            <a:r>
              <a:t>  - Welcome Page (app.py): Overview of static analysis principles and pipeline status.</a:t>
            </a:r>
          </a:p>
          <a:p>
            <a:pPr lvl="1">
              <a:defRPr sz="1800">
                <a:solidFill>
                  <a:srgbClr val="3C3C3C"/>
                </a:solidFill>
                <a:latin typeface="Arial"/>
              </a:defRPr>
            </a:pPr>
            <a:r>
              <a:t>  - Scanner Page (01_Scanner.py): Drag-and-drop file upload, displays Trust Score cards.</a:t>
            </a:r>
          </a:p>
          <a:p>
            <a:pPr lvl="1">
              <a:defRPr sz="1800">
                <a:solidFill>
                  <a:srgbClr val="3C3C3C"/>
                </a:solidFill>
                <a:latin typeface="Arial"/>
              </a:defRPr>
            </a:pPr>
            <a:r>
              <a:t>  - Dashboard Page (02_Dashboard.py): Graphs metrics comparisons and feature importance.</a:t>
            </a:r>
          </a:p>
          <a:p>
            <a:pPr lvl="1">
              <a:defRPr sz="1800">
                <a:solidFill>
                  <a:srgbClr val="3C3C3C"/>
                </a:solidFill>
                <a:latin typeface="Arial"/>
              </a:defRPr>
            </a:pPr>
            <a:r>
              <a:t>  - MITRE Page (03_MITRE_ATT&amp;CK.py): Matrix mapping PE structural alerts to MITRE techniques.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Interactive Demo Flow</a:t>
            </a:r>
          </a:p>
        </p:txBody>
      </p:sp>
      <p:sp>
        <p:nvSpPr>
          <p:cNvPr id="3" name="Content Placeholder 2"/>
          <p:cNvSpPr>
            <a:spLocks noGrp="1"/>
          </p:cNvSpPr>
          <p:nvPr>
            <p:ph idx="1"/>
          </p:nvPr>
        </p:nvSpPr>
        <p:spPr/>
        <p:txBody>
          <a:bodyPr/>
          <a:lstStyle/>
          <a:p>
            <a:pPr>
              <a:defRPr sz="2200">
                <a:solidFill>
                  <a:srgbClr val="3C3C3C"/>
                </a:solidFill>
                <a:latin typeface="Arial"/>
              </a:defRPr>
            </a:pPr>
            <a:r>
              <a:t>Step 1: Pipeline Audit - Navigate to the Dashboard to review trained model metrics.</a:t>
            </a:r>
          </a:p>
          <a:p>
            <a:pPr>
              <a:defRPr sz="2200">
                <a:solidFill>
                  <a:srgbClr val="3C3C3C"/>
                </a:solidFill>
                <a:latin typeface="Arial"/>
              </a:defRPr>
            </a:pPr>
            <a:r>
              <a:t>Step 2: Binary Submission - Upload a Windows executable (e.g., calc.exe) in the Scanner Page.</a:t>
            </a:r>
          </a:p>
          <a:p>
            <a:pPr>
              <a:defRPr sz="2200">
                <a:solidFill>
                  <a:srgbClr val="3C3C3C"/>
                </a:solidFill>
                <a:latin typeface="Arial"/>
              </a:defRPr>
            </a:pPr>
            <a:r>
              <a:t>Step 3: Feature Parsing - Scanner extracts 54 features dynamically (&lt;200ms).</a:t>
            </a:r>
          </a:p>
          <a:p>
            <a:pPr>
              <a:defRPr sz="2200">
                <a:solidFill>
                  <a:srgbClr val="3C3C3C"/>
                </a:solidFill>
                <a:latin typeface="Arial"/>
              </a:defRPr>
            </a:pPr>
            <a:r>
              <a:t>Step 4: Output Rendering - UI displays Trust Score card, telemetry summary table, and XAI warnings.</a:t>
            </a:r>
          </a:p>
          <a:p>
            <a:pPr>
              <a:defRPr sz="2200">
                <a:solidFill>
                  <a:srgbClr val="3C3C3C"/>
                </a:solidFill>
                <a:latin typeface="Arial"/>
              </a:defRPr>
            </a:pPr>
            <a:r>
              <a:t>Step 5: Threat Analysis - Inspect triggered alerts mapping directly to the MITRE matrix.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System Testing &amp; Quality Assurance</a:t>
            </a:r>
          </a:p>
        </p:txBody>
      </p:sp>
      <p:sp>
        <p:nvSpPr>
          <p:cNvPr id="3" name="Content Placeholder 2"/>
          <p:cNvSpPr>
            <a:spLocks noGrp="1"/>
          </p:cNvSpPr>
          <p:nvPr>
            <p:ph idx="1"/>
          </p:nvPr>
        </p:nvSpPr>
        <p:spPr/>
        <p:txBody>
          <a:bodyPr/>
          <a:lstStyle/>
          <a:p>
            <a:pPr>
              <a:defRPr sz="2200">
                <a:solidFill>
                  <a:srgbClr val="3C3C3C"/>
                </a:solidFill>
                <a:latin typeface="Arial"/>
              </a:defRPr>
            </a:pPr>
            <a:r>
              <a:t>Unit Testing: Validates helper metrics like Shannon entropy boundaries and PE parsers.</a:t>
            </a:r>
          </a:p>
          <a:p>
            <a:pPr>
              <a:defRPr sz="2200">
                <a:solidFill>
                  <a:srgbClr val="3C3C3C"/>
                </a:solidFill>
                <a:latin typeface="Arial"/>
              </a:defRPr>
            </a:pPr>
            <a:r>
              <a:t>Integration Testing: Verifies that preprocessed feature dictionaries match the scaler schemas.</a:t>
            </a:r>
          </a:p>
          <a:p>
            <a:pPr>
              <a:defRPr sz="2200">
                <a:solidFill>
                  <a:srgbClr val="3C3C3C"/>
                </a:solidFill>
                <a:latin typeface="Arial"/>
              </a:defRPr>
            </a:pPr>
            <a:r>
              <a:t>Validation Testing: Confirms model training outputs satisfy accuracy boundaries (&gt;98%).</a:t>
            </a:r>
          </a:p>
          <a:p>
            <a:pPr>
              <a:defRPr sz="2200">
                <a:solidFill>
                  <a:srgbClr val="3C3C3C"/>
                </a:solidFill>
                <a:latin typeface="Arial"/>
              </a:defRPr>
            </a:pPr>
            <a:r>
              <a:t>Robustness Testing: Verifies fallback simulation mode if model files are missing.</a:t>
            </a:r>
          </a:p>
          <a:p>
            <a:pPr>
              <a:defRPr sz="2200">
                <a:solidFill>
                  <a:srgbClr val="3C3C3C"/>
                </a:solidFill>
                <a:latin typeface="Arial"/>
              </a:defRPr>
            </a:pPr>
            <a:r>
              <a:t>Execution: pytest test runner executes tests; 14 out of 14 test cases pass.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Discussion &amp; Key Insights</a:t>
            </a:r>
          </a:p>
        </p:txBody>
      </p:sp>
      <p:sp>
        <p:nvSpPr>
          <p:cNvPr id="3" name="Content Placeholder 2"/>
          <p:cNvSpPr>
            <a:spLocks noGrp="1"/>
          </p:cNvSpPr>
          <p:nvPr>
            <p:ph idx="1"/>
          </p:nvPr>
        </p:nvSpPr>
        <p:spPr/>
        <p:txBody>
          <a:bodyPr/>
          <a:lstStyle/>
          <a:p>
            <a:pPr>
              <a:defRPr sz="2200">
                <a:solidFill>
                  <a:srgbClr val="3C3C3C"/>
                </a:solidFill>
                <a:latin typeface="Arial"/>
              </a:defRPr>
            </a:pPr>
            <a:r>
              <a:t>FPR vs. FNR Trade-off: In cyber defense, false negatives (malware predicted benign) are high risk.</a:t>
            </a:r>
          </a:p>
          <a:p>
            <a:pPr>
              <a:defRPr sz="2200">
                <a:solidFill>
                  <a:srgbClr val="3C3C3C"/>
                </a:solidFill>
                <a:latin typeface="Arial"/>
              </a:defRPr>
            </a:pPr>
            <a:r>
              <a:t>Evasion Containment: Maintaining low FPR (0.39%) ensures minimal leakage of malicious files.</a:t>
            </a:r>
          </a:p>
          <a:p>
            <a:pPr>
              <a:defRPr sz="2200">
                <a:solidFill>
                  <a:srgbClr val="3C3C3C"/>
                </a:solidFill>
                <a:latin typeface="Arial"/>
              </a:defRPr>
            </a:pPr>
            <a:r>
              <a:t>Static Efficacy: Confirms compiled headers contain sufficient structural signals to determine safety.</a:t>
            </a:r>
          </a:p>
          <a:p>
            <a:pPr>
              <a:defRPr sz="2200">
                <a:solidFill>
                  <a:srgbClr val="3C3C3C"/>
                </a:solidFill>
                <a:latin typeface="Arial"/>
              </a:defRPr>
            </a:pPr>
            <a:r>
              <a:t>Interface Transparency: Demonstrates that explainable AI rules prevent alert fatigue.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Pending Implementations (Placeholders)</a:t>
            </a:r>
          </a:p>
        </p:txBody>
      </p:sp>
      <p:sp>
        <p:nvSpPr>
          <p:cNvPr id="3" name="Content Placeholder 2"/>
          <p:cNvSpPr>
            <a:spLocks noGrp="1"/>
          </p:cNvSpPr>
          <p:nvPr>
            <p:ph idx="1"/>
          </p:nvPr>
        </p:nvSpPr>
        <p:spPr/>
        <p:txBody>
          <a:bodyPr/>
          <a:lstStyle/>
          <a:p>
            <a:pPr>
              <a:defRPr sz="2200">
                <a:solidFill>
                  <a:srgbClr val="3C3C3C"/>
                </a:solidFill>
                <a:latin typeface="Arial"/>
              </a:defRPr>
            </a:pPr>
            <a:r>
              <a:t>[PENDING: Dynamic SHAP Explainability Engine]</a:t>
            </a:r>
          </a:p>
          <a:p>
            <a:pPr lvl="1">
              <a:defRPr sz="1800">
                <a:solidFill>
                  <a:srgbClr val="3C3C3C"/>
                </a:solidFill>
                <a:latin typeface="Arial"/>
              </a:defRPr>
            </a:pPr>
            <a:r>
              <a:t>  - Integrate SHAP value charts to visualize the model's feature contributions per scan.</a:t>
            </a:r>
          </a:p>
          <a:p>
            <a:pPr>
              <a:defRPr sz="2200">
                <a:solidFill>
                  <a:srgbClr val="3C3C3C"/>
                </a:solidFill>
                <a:latin typeface="Arial"/>
              </a:defRPr>
            </a:pPr>
            <a:r>
              <a:t>[PENDING: ELF and Mach-O Parser Modules]</a:t>
            </a:r>
          </a:p>
          <a:p>
            <a:pPr lvl="1">
              <a:defRPr sz="1800">
                <a:solidFill>
                  <a:srgbClr val="3C3C3C"/>
                </a:solidFill>
                <a:latin typeface="Arial"/>
              </a:defRPr>
            </a:pPr>
            <a:r>
              <a:t>  - Expand preprocess parser to support Linux ELF and macOS Mach-O headers.</a:t>
            </a:r>
          </a:p>
          <a:p>
            <a:pPr>
              <a:defRPr sz="2200">
                <a:solidFill>
                  <a:srgbClr val="3C3C3C"/>
                </a:solidFill>
                <a:latin typeface="Arial"/>
              </a:defRPr>
            </a:pPr>
            <a:r>
              <a:t>[PENDING: SQL History Logger]</a:t>
            </a:r>
          </a:p>
          <a:p>
            <a:pPr lvl="1">
              <a:defRPr sz="1800">
                <a:solidFill>
                  <a:srgbClr val="3C3C3C"/>
                </a:solidFill>
                <a:latin typeface="Arial"/>
              </a:defRPr>
            </a:pPr>
            <a:r>
              <a:t>  - Implement SQL database backend to store scan records and telemetry tables.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Future Work &amp; Enhancements</a:t>
            </a:r>
          </a:p>
        </p:txBody>
      </p:sp>
      <p:sp>
        <p:nvSpPr>
          <p:cNvPr id="3" name="Content Placeholder 2"/>
          <p:cNvSpPr>
            <a:spLocks noGrp="1"/>
          </p:cNvSpPr>
          <p:nvPr>
            <p:ph idx="1"/>
          </p:nvPr>
        </p:nvSpPr>
        <p:spPr/>
        <p:txBody>
          <a:bodyPr/>
          <a:lstStyle/>
          <a:p>
            <a:pPr>
              <a:defRPr sz="2200">
                <a:solidFill>
                  <a:srgbClr val="3C3C3C"/>
                </a:solidFill>
                <a:latin typeface="Arial"/>
              </a:defRPr>
            </a:pPr>
            <a:r>
              <a:t>Deep Learning Integration: Train 1D-CNN architectures on raw byte streams alongside RF models.</a:t>
            </a:r>
          </a:p>
          <a:p>
            <a:pPr>
              <a:defRPr sz="2200">
                <a:solidFill>
                  <a:srgbClr val="3C3C3C"/>
                </a:solidFill>
                <a:latin typeface="Arial"/>
              </a:defRPr>
            </a:pPr>
            <a:r>
              <a:t>Dynamic Sandbox Integration: Orchestrate automated routing of high-risk files to sandboxes.</a:t>
            </a:r>
          </a:p>
          <a:p>
            <a:pPr>
              <a:defRPr sz="2200">
                <a:solidFill>
                  <a:srgbClr val="3C3C3C"/>
                </a:solidFill>
                <a:latin typeface="Arial"/>
              </a:defRPr>
            </a:pPr>
            <a:r>
              <a:t>Global Threat Feed: Sync predictions with API platforms (e.g., VirusTotal).</a:t>
            </a:r>
          </a:p>
          <a:p>
            <a:pPr>
              <a:defRPr sz="2200">
                <a:solidFill>
                  <a:srgbClr val="3C3C3C"/>
                </a:solidFill>
                <a:latin typeface="Arial"/>
              </a:defRPr>
            </a:pPr>
            <a:r>
              <a:t>Explainable SHAP: Provide feature-level contributions to explain specific prediction probabilities.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1E3C72"/>
                </a:solidFill>
                <a:latin typeface="Arial"/>
              </a:defRPr>
            </a:pPr>
            <a:r>
              <a:t>Conclusion &amp; Faculty Review Questions</a:t>
            </a:r>
          </a:p>
        </p:txBody>
      </p:sp>
      <p:sp>
        <p:nvSpPr>
          <p:cNvPr id="3" name="Content Placeholder 2"/>
          <p:cNvSpPr>
            <a:spLocks noGrp="1"/>
          </p:cNvSpPr>
          <p:nvPr>
            <p:ph idx="1"/>
          </p:nvPr>
        </p:nvSpPr>
        <p:spPr/>
        <p:txBody>
          <a:bodyPr/>
          <a:lstStyle/>
          <a:p>
            <a:pPr>
              <a:defRPr sz="2200">
                <a:solidFill>
                  <a:srgbClr val="3C3C3C"/>
                </a:solidFill>
                <a:latin typeface="Arial"/>
              </a:defRPr>
            </a:pPr>
            <a:r>
              <a:t>Key Takeaway: TrustLens AI provides a secure static analyzer, achieving 99.49% accuracy and mapping structural anomalies directly to the MITRE ATT&amp;CK framework.</a:t>
            </a:r>
          </a:p>
          <a:p>
            <a:pPr>
              <a:defRPr sz="2200">
                <a:solidFill>
                  <a:srgbClr val="3C3C3C"/>
                </a:solidFill>
                <a:latin typeface="Arial"/>
              </a:defRPr>
            </a:pPr>
            <a:r>
              <a:t>Faculty Review Questions:</a:t>
            </a:r>
          </a:p>
          <a:p>
            <a:pPr lvl="1">
              <a:defRPr sz="1800">
                <a:solidFill>
                  <a:srgbClr val="3C3C3C"/>
                </a:solidFill>
                <a:latin typeface="Arial"/>
              </a:defRPr>
            </a:pPr>
            <a:r>
              <a:t>  1. Why is Random Forest more robust for static PE telemetry than Gradient Boosting?</a:t>
            </a:r>
          </a:p>
          <a:p>
            <a:pPr lvl="1">
              <a:defRPr sz="1800">
                <a:solidFill>
                  <a:srgbClr val="3C3C3C"/>
                </a:solidFill>
                <a:latin typeface="Arial"/>
              </a:defRPr>
            </a:pPr>
            <a:r>
              <a:t>  2. How does the system handle packed malware designed to hide headers?</a:t>
            </a:r>
          </a:p>
          <a:p>
            <a:pPr lvl="1">
              <a:defRPr sz="1800">
                <a:solidFill>
                  <a:srgbClr val="3C3C3C"/>
                </a:solidFill>
                <a:latin typeface="Arial"/>
              </a:defRPr>
            </a:pPr>
            <a:r>
              <a:t>  3. What are the security risks of static analysis compared to sandboxing?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